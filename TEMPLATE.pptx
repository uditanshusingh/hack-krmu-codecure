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6131"/>
            <a:ext cx="10058400" cy="5668010"/>
          </a:xfrm>
          <a:custGeom>
            <a:avLst/>
            <a:gdLst/>
            <a:ahLst/>
            <a:cxnLst/>
            <a:rect l="l" t="t" r="r" b="b"/>
            <a:pathLst>
              <a:path w="10058400" h="5668009">
                <a:moveTo>
                  <a:pt x="10058400" y="5667755"/>
                </a:moveTo>
                <a:lnTo>
                  <a:pt x="0" y="5667755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677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jp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jp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6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37.jp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38.jp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11" Type="http://schemas.openxmlformats.org/officeDocument/2006/relationships/image" Target="../media/image37.jp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64.png"/><Relationship Id="rId7" Type="http://schemas.openxmlformats.org/officeDocument/2006/relationships/image" Target="../media/image37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38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38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jp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2" y="2575560"/>
            <a:ext cx="109727" cy="1066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612" y="3404615"/>
            <a:ext cx="109727" cy="111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612" y="4323588"/>
            <a:ext cx="109727" cy="1066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4612" y="5097779"/>
            <a:ext cx="109727" cy="10820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640252" y="6334696"/>
            <a:ext cx="177165" cy="145415"/>
            <a:chOff x="9640252" y="6334696"/>
            <a:chExt cx="177165" cy="14541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40252" y="6334696"/>
              <a:ext cx="97631" cy="1450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765316" y="6334696"/>
              <a:ext cx="52069" cy="142240"/>
            </a:xfrm>
            <a:custGeom>
              <a:avLst/>
              <a:gdLst/>
              <a:ahLst/>
              <a:cxnLst/>
              <a:rect l="l" t="t" r="r" b="b"/>
              <a:pathLst>
                <a:path w="52070" h="142239">
                  <a:moveTo>
                    <a:pt x="51911" y="142017"/>
                  </a:moveTo>
                  <a:lnTo>
                    <a:pt x="33623" y="142017"/>
                  </a:lnTo>
                  <a:lnTo>
                    <a:pt x="33623" y="41243"/>
                  </a:lnTo>
                  <a:lnTo>
                    <a:pt x="0" y="41243"/>
                  </a:lnTo>
                  <a:lnTo>
                    <a:pt x="0" y="27527"/>
                  </a:lnTo>
                  <a:lnTo>
                    <a:pt x="8335" y="27003"/>
                  </a:lnTo>
                  <a:lnTo>
                    <a:pt x="15251" y="25622"/>
                  </a:lnTo>
                  <a:lnTo>
                    <a:pt x="38195" y="0"/>
                  </a:lnTo>
                  <a:lnTo>
                    <a:pt x="51911" y="0"/>
                  </a:lnTo>
                  <a:lnTo>
                    <a:pt x="51911" y="1420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000" b="1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71976" y="2506217"/>
            <a:ext cx="1469390" cy="230504"/>
            <a:chOff x="571976" y="2506217"/>
            <a:chExt cx="1469390" cy="230504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976" y="2510789"/>
              <a:ext cx="176974" cy="2244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0954" y="2509265"/>
              <a:ext cx="189166" cy="22440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1457" y="2506217"/>
              <a:ext cx="230314" cy="2305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6919" y="2510789"/>
              <a:ext cx="173831" cy="2228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67421" y="2510789"/>
              <a:ext cx="138779" cy="22288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8204" y="2510789"/>
              <a:ext cx="143446" cy="2244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1275" y="2509265"/>
              <a:ext cx="219646" cy="224409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162936" y="2507742"/>
            <a:ext cx="1819751" cy="228981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089463" y="2510789"/>
            <a:ext cx="346710" cy="224790"/>
            <a:chOff x="4089463" y="2510789"/>
            <a:chExt cx="346710" cy="224790"/>
          </a:xfrm>
        </p:grpSpPr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89463" y="2510789"/>
              <a:ext cx="112871" cy="2244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42054" y="2510789"/>
              <a:ext cx="193643" cy="22440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53235" y="2573369"/>
            <a:ext cx="64008" cy="161829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564356" y="3327463"/>
            <a:ext cx="767715" cy="209550"/>
            <a:chOff x="564356" y="3327463"/>
            <a:chExt cx="767715" cy="209550"/>
          </a:xfrm>
        </p:grpSpPr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4356" y="3328987"/>
              <a:ext cx="154114" cy="2076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5902" y="3327463"/>
              <a:ext cx="355377" cy="2091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27283" y="3328987"/>
              <a:ext cx="204311" cy="20764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453705" y="3327463"/>
            <a:ext cx="814705" cy="209550"/>
            <a:chOff x="1453705" y="3327463"/>
            <a:chExt cx="814705" cy="209550"/>
          </a:xfrm>
        </p:grpSpPr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3705" y="3328987"/>
              <a:ext cx="178403" cy="2076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58016" y="3327463"/>
              <a:ext cx="204406" cy="20916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88426" y="3328987"/>
              <a:ext cx="204406" cy="20764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35504" y="3328987"/>
              <a:ext cx="132683" cy="207645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2376487" y="3388518"/>
            <a:ext cx="59690" cy="149860"/>
          </a:xfrm>
          <a:custGeom>
            <a:avLst/>
            <a:gdLst/>
            <a:ahLst/>
            <a:cxnLst/>
            <a:rect l="l" t="t" r="r" b="b"/>
            <a:pathLst>
              <a:path w="59689" h="149860">
                <a:moveTo>
                  <a:pt x="25908" y="53435"/>
                </a:moveTo>
                <a:lnTo>
                  <a:pt x="22860" y="53435"/>
                </a:lnTo>
                <a:lnTo>
                  <a:pt x="19812" y="51911"/>
                </a:lnTo>
                <a:lnTo>
                  <a:pt x="16764" y="51911"/>
                </a:lnTo>
                <a:lnTo>
                  <a:pt x="10668" y="47339"/>
                </a:lnTo>
                <a:lnTo>
                  <a:pt x="3048" y="39719"/>
                </a:lnTo>
                <a:lnTo>
                  <a:pt x="3048" y="36671"/>
                </a:lnTo>
                <a:lnTo>
                  <a:pt x="0" y="30575"/>
                </a:lnTo>
                <a:lnTo>
                  <a:pt x="0" y="22955"/>
                </a:lnTo>
                <a:lnTo>
                  <a:pt x="7620" y="7715"/>
                </a:lnTo>
                <a:lnTo>
                  <a:pt x="13716" y="4667"/>
                </a:lnTo>
                <a:lnTo>
                  <a:pt x="19812" y="0"/>
                </a:lnTo>
                <a:lnTo>
                  <a:pt x="33623" y="0"/>
                </a:lnTo>
                <a:lnTo>
                  <a:pt x="41243" y="1524"/>
                </a:lnTo>
                <a:lnTo>
                  <a:pt x="50387" y="6191"/>
                </a:lnTo>
                <a:lnTo>
                  <a:pt x="51911" y="7715"/>
                </a:lnTo>
                <a:lnTo>
                  <a:pt x="53435" y="10763"/>
                </a:lnTo>
                <a:lnTo>
                  <a:pt x="58007" y="16859"/>
                </a:lnTo>
                <a:lnTo>
                  <a:pt x="59531" y="19907"/>
                </a:lnTo>
                <a:lnTo>
                  <a:pt x="59531" y="30575"/>
                </a:lnTo>
                <a:lnTo>
                  <a:pt x="58007" y="36671"/>
                </a:lnTo>
                <a:lnTo>
                  <a:pt x="56483" y="39719"/>
                </a:lnTo>
                <a:lnTo>
                  <a:pt x="53435" y="42767"/>
                </a:lnTo>
                <a:lnTo>
                  <a:pt x="51911" y="45815"/>
                </a:lnTo>
                <a:lnTo>
                  <a:pt x="50387" y="47339"/>
                </a:lnTo>
                <a:lnTo>
                  <a:pt x="47339" y="48863"/>
                </a:lnTo>
                <a:lnTo>
                  <a:pt x="42767" y="50387"/>
                </a:lnTo>
                <a:lnTo>
                  <a:pt x="41243" y="51911"/>
                </a:lnTo>
                <a:lnTo>
                  <a:pt x="25908" y="53435"/>
                </a:lnTo>
                <a:close/>
              </a:path>
              <a:path w="59689" h="149860">
                <a:moveTo>
                  <a:pt x="36671" y="96202"/>
                </a:moveTo>
                <a:lnTo>
                  <a:pt x="22860" y="96202"/>
                </a:lnTo>
                <a:lnTo>
                  <a:pt x="33623" y="94678"/>
                </a:lnTo>
                <a:lnTo>
                  <a:pt x="36671" y="96202"/>
                </a:lnTo>
                <a:close/>
              </a:path>
              <a:path w="59689" h="149860">
                <a:moveTo>
                  <a:pt x="25908" y="149637"/>
                </a:moveTo>
                <a:lnTo>
                  <a:pt x="22860" y="148113"/>
                </a:lnTo>
                <a:lnTo>
                  <a:pt x="19812" y="148113"/>
                </a:lnTo>
                <a:lnTo>
                  <a:pt x="7620" y="142017"/>
                </a:lnTo>
                <a:lnTo>
                  <a:pt x="3048" y="135921"/>
                </a:lnTo>
                <a:lnTo>
                  <a:pt x="3048" y="132873"/>
                </a:lnTo>
                <a:lnTo>
                  <a:pt x="1524" y="126777"/>
                </a:lnTo>
                <a:lnTo>
                  <a:pt x="0" y="119157"/>
                </a:lnTo>
                <a:lnTo>
                  <a:pt x="1524" y="116014"/>
                </a:lnTo>
                <a:lnTo>
                  <a:pt x="3048" y="112966"/>
                </a:lnTo>
                <a:lnTo>
                  <a:pt x="6096" y="105346"/>
                </a:lnTo>
                <a:lnTo>
                  <a:pt x="10668" y="100774"/>
                </a:lnTo>
                <a:lnTo>
                  <a:pt x="19812" y="96202"/>
                </a:lnTo>
                <a:lnTo>
                  <a:pt x="41243" y="96202"/>
                </a:lnTo>
                <a:lnTo>
                  <a:pt x="42767" y="97726"/>
                </a:lnTo>
                <a:lnTo>
                  <a:pt x="47339" y="99250"/>
                </a:lnTo>
                <a:lnTo>
                  <a:pt x="56483" y="108394"/>
                </a:lnTo>
                <a:lnTo>
                  <a:pt x="58007" y="112966"/>
                </a:lnTo>
                <a:lnTo>
                  <a:pt x="59531" y="119157"/>
                </a:lnTo>
                <a:lnTo>
                  <a:pt x="59531" y="128301"/>
                </a:lnTo>
                <a:lnTo>
                  <a:pt x="58007" y="132873"/>
                </a:lnTo>
                <a:lnTo>
                  <a:pt x="54959" y="138969"/>
                </a:lnTo>
                <a:lnTo>
                  <a:pt x="51911" y="142017"/>
                </a:lnTo>
                <a:lnTo>
                  <a:pt x="48863" y="143541"/>
                </a:lnTo>
                <a:lnTo>
                  <a:pt x="44291" y="146589"/>
                </a:lnTo>
                <a:lnTo>
                  <a:pt x="38195" y="148113"/>
                </a:lnTo>
                <a:lnTo>
                  <a:pt x="25908" y="1496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000" b="1"/>
          </a:p>
        </p:txBody>
      </p:sp>
      <p:grpSp>
        <p:nvGrpSpPr>
          <p:cNvPr id="34" name="object 34"/>
          <p:cNvGrpSpPr/>
          <p:nvPr/>
        </p:nvGrpSpPr>
        <p:grpSpPr>
          <a:xfrm>
            <a:off x="565880" y="4252531"/>
            <a:ext cx="864869" cy="236854"/>
            <a:chOff x="565880" y="4252531"/>
            <a:chExt cx="864869" cy="236854"/>
          </a:xfrm>
        </p:grpSpPr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5880" y="4254055"/>
              <a:ext cx="173926" cy="23507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0286" y="4254055"/>
              <a:ext cx="149542" cy="2350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41165" y="4252531"/>
              <a:ext cx="230314" cy="23660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01959" y="4254055"/>
              <a:ext cx="228790" cy="235076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1562004" y="4254055"/>
            <a:ext cx="361950" cy="235585"/>
            <a:chOff x="1562004" y="4254055"/>
            <a:chExt cx="361950" cy="235585"/>
          </a:xfrm>
        </p:grpSpPr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62004" y="4254055"/>
              <a:ext cx="117443" cy="2350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20596" y="4255579"/>
              <a:ext cx="202882" cy="233553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045493" y="4321302"/>
            <a:ext cx="67151" cy="16935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71976" y="5031104"/>
            <a:ext cx="173926" cy="233552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776382" y="5029580"/>
            <a:ext cx="661035" cy="236854"/>
            <a:chOff x="776382" y="5029580"/>
            <a:chExt cx="661035" cy="236854"/>
          </a:xfrm>
        </p:grpSpPr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47261" y="5029580"/>
              <a:ext cx="231838" cy="23507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76382" y="5031104"/>
              <a:ext cx="149542" cy="23507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08055" y="5031104"/>
              <a:ext cx="228790" cy="235076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577244" y="5028056"/>
            <a:ext cx="1563433" cy="239649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259645" y="5098255"/>
            <a:ext cx="67151" cy="16944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12B60B0B-58EF-67B3-33DD-DCD279E9DB7D}"/>
              </a:ext>
            </a:extLst>
          </p:cNvPr>
          <p:cNvSpPr txBox="1"/>
          <p:nvPr/>
        </p:nvSpPr>
        <p:spPr>
          <a:xfrm>
            <a:off x="2759296" y="3246978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CURE CODES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55551D-5F31-5B29-4ADB-13E06BD16059}"/>
              </a:ext>
            </a:extLst>
          </p:cNvPr>
          <p:cNvSpPr txBox="1"/>
          <p:nvPr/>
        </p:nvSpPr>
        <p:spPr>
          <a:xfrm>
            <a:off x="4786598" y="2454228"/>
            <a:ext cx="5874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OPEN INNOVATION(WOMEN SAFETY)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FAEB61-239B-E0DF-928D-5AAE60FEEA5E}"/>
              </a:ext>
            </a:extLst>
          </p:cNvPr>
          <p:cNvSpPr txBox="1"/>
          <p:nvPr/>
        </p:nvSpPr>
        <p:spPr>
          <a:xfrm>
            <a:off x="2178430" y="4203023"/>
            <a:ext cx="218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HK-189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B6C2C0-2937-CFD2-66AC-CDF177D3037A}"/>
              </a:ext>
            </a:extLst>
          </p:cNvPr>
          <p:cNvSpPr txBox="1"/>
          <p:nvPr/>
        </p:nvSpPr>
        <p:spPr>
          <a:xfrm>
            <a:off x="3370430" y="4982924"/>
            <a:ext cx="5345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UDITANSHU,UTKARSH,NIKHIL,NISHANT</a:t>
            </a:r>
            <a:endParaRPr lang="en-IN" sz="2000" b="1" dirty="0">
              <a:solidFill>
                <a:schemeClr val="bg1"/>
              </a:solidFill>
            </a:endParaRPr>
          </a:p>
        </p:txBody>
      </p:sp>
      <p:grpSp>
        <p:nvGrpSpPr>
          <p:cNvPr id="60" name="object 4">
            <a:extLst>
              <a:ext uri="{FF2B5EF4-FFF2-40B4-BE49-F238E27FC236}">
                <a16:creationId xmlns:a16="http://schemas.microsoft.com/office/drawing/2014/main" id="{F9FE87A8-059C-5C93-3703-9214DA3958E9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61" name="object 5">
              <a:extLst>
                <a:ext uri="{FF2B5EF4-FFF2-40B4-BE49-F238E27FC236}">
                  <a16:creationId xmlns:a16="http://schemas.microsoft.com/office/drawing/2014/main" id="{F64234E5-189F-F83F-B6A0-51B1CC0FCFBD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62" name="object 6">
              <a:extLst>
                <a:ext uri="{FF2B5EF4-FFF2-40B4-BE49-F238E27FC236}">
                  <a16:creationId xmlns:a16="http://schemas.microsoft.com/office/drawing/2014/main" id="{C4402A7A-59CE-D49A-AB64-1AB141AAAC44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8352" y="6342316"/>
            <a:ext cx="207453" cy="14506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702176" y="609600"/>
            <a:ext cx="1033144" cy="161925"/>
            <a:chOff x="3700557" y="1866614"/>
            <a:chExt cx="1033144" cy="1619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0557" y="1868138"/>
              <a:ext cx="125063" cy="1587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6957" y="1866614"/>
              <a:ext cx="311181" cy="16182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2522" y="1868138"/>
              <a:ext cx="122015" cy="1572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28922" y="1868138"/>
              <a:ext cx="99155" cy="1572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49508" y="1868138"/>
              <a:ext cx="100679" cy="15878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79143" y="1868138"/>
              <a:ext cx="154019" cy="15725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21745" y="608076"/>
            <a:ext cx="131159" cy="16335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029200" y="609600"/>
            <a:ext cx="1147445" cy="161925"/>
            <a:chOff x="5027581" y="1866614"/>
            <a:chExt cx="1147445" cy="16192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27581" y="1866614"/>
              <a:ext cx="305085" cy="1618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7050" y="1868138"/>
              <a:ext cx="97631" cy="1572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76017" y="1868138"/>
              <a:ext cx="355473" cy="1603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1302" y="1866614"/>
              <a:ext cx="161639" cy="16182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38850" y="1868138"/>
              <a:ext cx="135826" cy="158781"/>
            </a:xfrm>
            <a:prstGeom prst="rect">
              <a:avLst/>
            </a:prstGeom>
          </p:spPr>
        </p:pic>
      </p:grpSp>
      <p:sp>
        <p:nvSpPr>
          <p:cNvPr id="26" name="Rectangle 6">
            <a:extLst>
              <a:ext uri="{FF2B5EF4-FFF2-40B4-BE49-F238E27FC236}">
                <a16:creationId xmlns:a16="http://schemas.microsoft.com/office/drawing/2014/main" id="{00688DEE-3738-2890-9A35-CC8BE00BE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5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your official document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A04634F1-4C21-7E96-1DBB-3B42B510A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00584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74ADB7E4-F306-ACE1-894B-8454A3CE9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0275"/>
            <a:ext cx="100584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3C764CB7-5375-3D2F-19C0-1E185C411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32871"/>
            <a:ext cx="294526" cy="148490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07E30C8D-CA5B-375F-B0D8-E551059AC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63" y="1501988"/>
            <a:ext cx="10134043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50%+ women hesitate to discuss reproductive health due to stigma.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Branded medicines are expensive (₹1200 vs ₹500 generic).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Lack of privacy in pharmacy purchases.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Leads to poor treatment adherence and delayed care.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C8FA6777-193C-5B44-C213-9ED833E1B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21" y="3370207"/>
            <a:ext cx="11049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Our Pharma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: Privacy-first, affordable healthcare platform for women.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Salt-based generic substitution (40–60% cheaper).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Transparent pricing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Secure prescription upload &amp; encrypted checkout.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Discreet packaging + Private Mode + Female support option.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Goal: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 Make women’s healthcare affordable, private, and dignified.</a:t>
            </a:r>
          </a:p>
        </p:txBody>
      </p:sp>
      <p:grpSp>
        <p:nvGrpSpPr>
          <p:cNvPr id="36" name="object 4">
            <a:extLst>
              <a:ext uri="{FF2B5EF4-FFF2-40B4-BE49-F238E27FC236}">
                <a16:creationId xmlns:a16="http://schemas.microsoft.com/office/drawing/2014/main" id="{3E9411FE-F880-E3A1-F908-B282311C0584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37" name="object 5">
              <a:extLst>
                <a:ext uri="{FF2B5EF4-FFF2-40B4-BE49-F238E27FC236}">
                  <a16:creationId xmlns:a16="http://schemas.microsoft.com/office/drawing/2014/main" id="{A9D73BC4-C128-A29E-DC4D-CA8D2D20FEA8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38" name="object 6">
              <a:extLst>
                <a:ext uri="{FF2B5EF4-FFF2-40B4-BE49-F238E27FC236}">
                  <a16:creationId xmlns:a16="http://schemas.microsoft.com/office/drawing/2014/main" id="{9EE4358B-FD43-DC65-58D9-BA6C779031FF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5492" y="6353079"/>
            <a:ext cx="208978" cy="144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3830" y="534924"/>
            <a:ext cx="2110740" cy="1600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C98934-5D1D-1328-FA6B-41B54F380236}"/>
              </a:ext>
            </a:extLst>
          </p:cNvPr>
          <p:cNvSpPr txBox="1"/>
          <p:nvPr/>
        </p:nvSpPr>
        <p:spPr>
          <a:xfrm>
            <a:off x="503198" y="1059031"/>
            <a:ext cx="9382287" cy="6878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User Entry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Login / Signup (OTP) or Guest access</a:t>
            </a: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Choose 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Public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or 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Anonymous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mode for privacy</a:t>
            </a:r>
          </a:p>
          <a:p>
            <a:pPr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Prescription Source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Option A: Consult a doctor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(</a:t>
            </a:r>
            <a:r>
              <a:rPr lang="en-IN" dirty="0" err="1">
                <a:solidFill>
                  <a:schemeClr val="bg1"/>
                </a:solidFill>
                <a:latin typeface="Aptos Display" panose="020B0004020202020204" pitchFamily="34" charset="0"/>
              </a:rPr>
              <a:t>teleconsult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  <a:b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→ Doctor issues digital prescription (identity masked if anonymous)</a:t>
            </a:r>
          </a:p>
          <a:p>
            <a:pPr lvl="1"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Option B: Upload prescription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(image/PDF)</a:t>
            </a:r>
            <a:b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→ OCR extracts text → fuzzy matching maps brand → salt</a:t>
            </a:r>
          </a:p>
          <a:p>
            <a:pPr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Medicine Suggestions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System shows 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Branded vs Generic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options</a:t>
            </a: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Transparent pricing and savings highlighted</a:t>
            </a: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Pharmacist verification for low‑confidence matches</a:t>
            </a:r>
          </a:p>
          <a:p>
            <a:pPr algn="l">
              <a:lnSpc>
                <a:spcPct val="150000"/>
              </a:lnSpc>
            </a:pP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Order Confirmation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User selects medicines</a:t>
            </a:r>
          </a:p>
          <a:p>
            <a:pPr lvl="1" algn="l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Checkout with 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privacy flags</a:t>
            </a:r>
            <a: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  <a:t> (private mode, discreet packaging, female pharmacist option)</a:t>
            </a:r>
          </a:p>
          <a:p>
            <a:pPr algn="l"/>
            <a:br>
              <a:rPr lang="en-IN" dirty="0">
                <a:solidFill>
                  <a:schemeClr val="bg1"/>
                </a:solidFill>
                <a:latin typeface="Aptos Display" panose="020B0004020202020204" pitchFamily="34" charset="0"/>
              </a:rPr>
            </a:b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9" name="object 4">
            <a:extLst>
              <a:ext uri="{FF2B5EF4-FFF2-40B4-BE49-F238E27FC236}">
                <a16:creationId xmlns:a16="http://schemas.microsoft.com/office/drawing/2014/main" id="{B84BB2B4-7478-5F4E-7BF7-9933B2A45CC8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D298A73D-EF12-5C33-5117-620131CDFC3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62F5CDDB-0FDB-B34F-590D-9C539112037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5B1C9-8DE1-0CAE-FBEE-04BDE471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2C71FA56-D236-CA4F-F3BB-65220788B4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5492" y="6353079"/>
            <a:ext cx="208978" cy="14497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9D7D3BD1-54DD-3AE1-92E6-A245F41B3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64732"/>
            <a:ext cx="72864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Delivery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Order routed to verified pharmacy partner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Ephemeral delivery token generated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Courier receives masked recipient info + discreet instructions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Verified delivery confirmation sent to 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Safety &amp; Comfort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Anonymous consult reduces hesitation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Private notifications and discreet packaging protect dignity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SOS button and female‑pharmacist option integrated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9F16420C-2C62-FF19-5DD1-90CB82D94F46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11" name="object 5">
              <a:extLst>
                <a:ext uri="{FF2B5EF4-FFF2-40B4-BE49-F238E27FC236}">
                  <a16:creationId xmlns:a16="http://schemas.microsoft.com/office/drawing/2014/main" id="{A2164D08-295F-3DCF-A6EE-6F917C007B6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A09A9AFE-EED0-9D1B-3C62-DA6E222569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234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3780" y="6449186"/>
            <a:ext cx="210502" cy="14506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570732" y="304800"/>
            <a:ext cx="503555" cy="172720"/>
            <a:chOff x="3502247" y="1758219"/>
            <a:chExt cx="503555" cy="172720"/>
          </a:xfrm>
        </p:grpSpPr>
        <p:sp>
          <p:nvSpPr>
            <p:cNvPr id="4" name="object 4"/>
            <p:cNvSpPr/>
            <p:nvPr/>
          </p:nvSpPr>
          <p:spPr>
            <a:xfrm>
              <a:off x="3502240" y="1761121"/>
              <a:ext cx="278130" cy="165100"/>
            </a:xfrm>
            <a:custGeom>
              <a:avLst/>
              <a:gdLst/>
              <a:ahLst/>
              <a:cxnLst/>
              <a:rect l="l" t="t" r="r" b="b"/>
              <a:pathLst>
                <a:path w="278129" h="165100">
                  <a:moveTo>
                    <a:pt x="13268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48768" y="29210"/>
                  </a:lnTo>
                  <a:lnTo>
                    <a:pt x="48768" y="165100"/>
                  </a:lnTo>
                  <a:lnTo>
                    <a:pt x="83921" y="165100"/>
                  </a:lnTo>
                  <a:lnTo>
                    <a:pt x="83921" y="29210"/>
                  </a:lnTo>
                  <a:lnTo>
                    <a:pt x="132689" y="29210"/>
                  </a:lnTo>
                  <a:lnTo>
                    <a:pt x="132689" y="0"/>
                  </a:lnTo>
                  <a:close/>
                </a:path>
                <a:path w="278129" h="165100">
                  <a:moveTo>
                    <a:pt x="277558" y="135890"/>
                  </a:moveTo>
                  <a:lnTo>
                    <a:pt x="186029" y="135890"/>
                  </a:lnTo>
                  <a:lnTo>
                    <a:pt x="186029" y="92710"/>
                  </a:lnTo>
                  <a:lnTo>
                    <a:pt x="266890" y="92710"/>
                  </a:lnTo>
                  <a:lnTo>
                    <a:pt x="266890" y="64770"/>
                  </a:lnTo>
                  <a:lnTo>
                    <a:pt x="186029" y="64770"/>
                  </a:lnTo>
                  <a:lnTo>
                    <a:pt x="186029" y="29210"/>
                  </a:lnTo>
                  <a:lnTo>
                    <a:pt x="272986" y="29210"/>
                  </a:lnTo>
                  <a:lnTo>
                    <a:pt x="272986" y="0"/>
                  </a:lnTo>
                  <a:lnTo>
                    <a:pt x="152501" y="0"/>
                  </a:lnTo>
                  <a:lnTo>
                    <a:pt x="152501" y="29210"/>
                  </a:lnTo>
                  <a:lnTo>
                    <a:pt x="152501" y="64770"/>
                  </a:lnTo>
                  <a:lnTo>
                    <a:pt x="152501" y="92710"/>
                  </a:lnTo>
                  <a:lnTo>
                    <a:pt x="152501" y="135890"/>
                  </a:lnTo>
                  <a:lnTo>
                    <a:pt x="152501" y="165100"/>
                  </a:lnTo>
                  <a:lnTo>
                    <a:pt x="277558" y="165100"/>
                  </a:lnTo>
                  <a:lnTo>
                    <a:pt x="277558" y="13589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9712" y="1758219"/>
              <a:ext cx="146399" cy="1724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72020" y="1761617"/>
              <a:ext cx="33655" cy="62230"/>
            </a:xfrm>
            <a:custGeom>
              <a:avLst/>
              <a:gdLst/>
              <a:ahLst/>
              <a:cxnLst/>
              <a:rect l="l" t="t" r="r" b="b"/>
              <a:pathLst>
                <a:path w="33654" h="62230">
                  <a:moveTo>
                    <a:pt x="0" y="0"/>
                  </a:moveTo>
                  <a:lnTo>
                    <a:pt x="33527" y="0"/>
                  </a:lnTo>
                  <a:lnTo>
                    <a:pt x="33527" y="62229"/>
                  </a:lnTo>
                  <a:lnTo>
                    <a:pt x="0" y="62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4040499" y="308197"/>
            <a:ext cx="131445" cy="165100"/>
          </a:xfrm>
          <a:custGeom>
            <a:avLst/>
            <a:gdLst/>
            <a:ahLst/>
            <a:cxnLst/>
            <a:rect l="l" t="t" r="r" b="b"/>
            <a:pathLst>
              <a:path w="131445" h="165100">
                <a:moveTo>
                  <a:pt x="131165" y="0"/>
                </a:moveTo>
                <a:lnTo>
                  <a:pt x="97637" y="0"/>
                </a:lnTo>
                <a:lnTo>
                  <a:pt x="97637" y="62230"/>
                </a:lnTo>
                <a:lnTo>
                  <a:pt x="0" y="62230"/>
                </a:lnTo>
                <a:lnTo>
                  <a:pt x="0" y="91440"/>
                </a:lnTo>
                <a:lnTo>
                  <a:pt x="0" y="165100"/>
                </a:lnTo>
                <a:lnTo>
                  <a:pt x="33528" y="165100"/>
                </a:lnTo>
                <a:lnTo>
                  <a:pt x="33528" y="91440"/>
                </a:lnTo>
                <a:lnTo>
                  <a:pt x="97637" y="91440"/>
                </a:lnTo>
                <a:lnTo>
                  <a:pt x="97637" y="165100"/>
                </a:lnTo>
                <a:lnTo>
                  <a:pt x="131165" y="165100"/>
                </a:lnTo>
                <a:lnTo>
                  <a:pt x="131165" y="91440"/>
                </a:lnTo>
                <a:lnTo>
                  <a:pt x="131165" y="62230"/>
                </a:lnTo>
                <a:lnTo>
                  <a:pt x="131165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260151" y="304800"/>
            <a:ext cx="778510" cy="172720"/>
            <a:chOff x="4191666" y="1758219"/>
            <a:chExt cx="778510" cy="172720"/>
          </a:xfrm>
        </p:grpSpPr>
        <p:sp>
          <p:nvSpPr>
            <p:cNvPr id="9" name="object 9"/>
            <p:cNvSpPr/>
            <p:nvPr/>
          </p:nvSpPr>
          <p:spPr>
            <a:xfrm>
              <a:off x="4191660" y="1758225"/>
              <a:ext cx="604520" cy="172720"/>
            </a:xfrm>
            <a:custGeom>
              <a:avLst/>
              <a:gdLst/>
              <a:ahLst/>
              <a:cxnLst/>
              <a:rect l="l" t="t" r="r" b="b"/>
              <a:pathLst>
                <a:path w="604520" h="172719">
                  <a:moveTo>
                    <a:pt x="135724" y="119062"/>
                  </a:moveTo>
                  <a:lnTo>
                    <a:pt x="113245" y="81534"/>
                  </a:lnTo>
                  <a:lnTo>
                    <a:pt x="54952" y="65620"/>
                  </a:lnTo>
                  <a:lnTo>
                    <a:pt x="47332" y="62572"/>
                  </a:lnTo>
                  <a:lnTo>
                    <a:pt x="41236" y="61048"/>
                  </a:lnTo>
                  <a:lnTo>
                    <a:pt x="39712" y="58000"/>
                  </a:lnTo>
                  <a:lnTo>
                    <a:pt x="36664" y="54952"/>
                  </a:lnTo>
                  <a:lnTo>
                    <a:pt x="35140" y="51904"/>
                  </a:lnTo>
                  <a:lnTo>
                    <a:pt x="35140" y="41236"/>
                  </a:lnTo>
                  <a:lnTo>
                    <a:pt x="38188" y="36664"/>
                  </a:lnTo>
                  <a:lnTo>
                    <a:pt x="42760" y="33616"/>
                  </a:lnTo>
                  <a:lnTo>
                    <a:pt x="48856" y="29044"/>
                  </a:lnTo>
                  <a:lnTo>
                    <a:pt x="54952" y="27520"/>
                  </a:lnTo>
                  <a:lnTo>
                    <a:pt x="64096" y="27520"/>
                  </a:lnTo>
                  <a:lnTo>
                    <a:pt x="77482" y="29197"/>
                  </a:lnTo>
                  <a:lnTo>
                    <a:pt x="87718" y="33997"/>
                  </a:lnTo>
                  <a:lnTo>
                    <a:pt x="94538" y="41668"/>
                  </a:lnTo>
                  <a:lnTo>
                    <a:pt x="97624" y="51904"/>
                  </a:lnTo>
                  <a:lnTo>
                    <a:pt x="129628" y="51904"/>
                  </a:lnTo>
                  <a:lnTo>
                    <a:pt x="111721" y="14185"/>
                  </a:lnTo>
                  <a:lnTo>
                    <a:pt x="75361" y="304"/>
                  </a:lnTo>
                  <a:lnTo>
                    <a:pt x="65620" y="0"/>
                  </a:lnTo>
                  <a:lnTo>
                    <a:pt x="55880" y="304"/>
                  </a:lnTo>
                  <a:lnTo>
                    <a:pt x="19050" y="14185"/>
                  </a:lnTo>
                  <a:lnTo>
                    <a:pt x="3048" y="50380"/>
                  </a:lnTo>
                  <a:lnTo>
                    <a:pt x="3644" y="59004"/>
                  </a:lnTo>
                  <a:lnTo>
                    <a:pt x="35191" y="93370"/>
                  </a:lnTo>
                  <a:lnTo>
                    <a:pt x="57531" y="98488"/>
                  </a:lnTo>
                  <a:lnTo>
                    <a:pt x="67525" y="100774"/>
                  </a:lnTo>
                  <a:lnTo>
                    <a:pt x="75819" y="103060"/>
                  </a:lnTo>
                  <a:lnTo>
                    <a:pt x="82384" y="105346"/>
                  </a:lnTo>
                  <a:lnTo>
                    <a:pt x="90004" y="106870"/>
                  </a:lnTo>
                  <a:lnTo>
                    <a:pt x="94576" y="109918"/>
                  </a:lnTo>
                  <a:lnTo>
                    <a:pt x="97624" y="111442"/>
                  </a:lnTo>
                  <a:lnTo>
                    <a:pt x="100672" y="114490"/>
                  </a:lnTo>
                  <a:lnTo>
                    <a:pt x="102196" y="117538"/>
                  </a:lnTo>
                  <a:lnTo>
                    <a:pt x="102196" y="129819"/>
                  </a:lnTo>
                  <a:lnTo>
                    <a:pt x="99148" y="134391"/>
                  </a:lnTo>
                  <a:lnTo>
                    <a:pt x="93052" y="138963"/>
                  </a:lnTo>
                  <a:lnTo>
                    <a:pt x="88480" y="142011"/>
                  </a:lnTo>
                  <a:lnTo>
                    <a:pt x="79336" y="143535"/>
                  </a:lnTo>
                  <a:lnTo>
                    <a:pt x="68668" y="143535"/>
                  </a:lnTo>
                  <a:lnTo>
                    <a:pt x="33528" y="125247"/>
                  </a:lnTo>
                  <a:lnTo>
                    <a:pt x="33528" y="117538"/>
                  </a:lnTo>
                  <a:lnTo>
                    <a:pt x="0" y="117538"/>
                  </a:lnTo>
                  <a:lnTo>
                    <a:pt x="19812" y="158775"/>
                  </a:lnTo>
                  <a:lnTo>
                    <a:pt x="70192" y="172491"/>
                  </a:lnTo>
                  <a:lnTo>
                    <a:pt x="79298" y="171970"/>
                  </a:lnTo>
                  <a:lnTo>
                    <a:pt x="116293" y="158394"/>
                  </a:lnTo>
                  <a:lnTo>
                    <a:pt x="135153" y="127076"/>
                  </a:lnTo>
                  <a:lnTo>
                    <a:pt x="135724" y="119062"/>
                  </a:lnTo>
                  <a:close/>
                </a:path>
                <a:path w="604520" h="172719">
                  <a:moveTo>
                    <a:pt x="280606" y="2895"/>
                  </a:moveTo>
                  <a:lnTo>
                    <a:pt x="147929" y="2895"/>
                  </a:lnTo>
                  <a:lnTo>
                    <a:pt x="147929" y="32105"/>
                  </a:lnTo>
                  <a:lnTo>
                    <a:pt x="196697" y="32105"/>
                  </a:lnTo>
                  <a:lnTo>
                    <a:pt x="196697" y="167995"/>
                  </a:lnTo>
                  <a:lnTo>
                    <a:pt x="231838" y="167995"/>
                  </a:lnTo>
                  <a:lnTo>
                    <a:pt x="231838" y="32105"/>
                  </a:lnTo>
                  <a:lnTo>
                    <a:pt x="280606" y="32105"/>
                  </a:lnTo>
                  <a:lnTo>
                    <a:pt x="280606" y="2895"/>
                  </a:lnTo>
                  <a:close/>
                </a:path>
                <a:path w="604520" h="172719">
                  <a:moveTo>
                    <a:pt x="443865" y="167932"/>
                  </a:moveTo>
                  <a:lnTo>
                    <a:pt x="432092" y="134404"/>
                  </a:lnTo>
                  <a:lnTo>
                    <a:pt x="421881" y="105346"/>
                  </a:lnTo>
                  <a:lnTo>
                    <a:pt x="399364" y="41249"/>
                  </a:lnTo>
                  <a:lnTo>
                    <a:pt x="385953" y="3048"/>
                  </a:lnTo>
                  <a:lnTo>
                    <a:pt x="385953" y="105346"/>
                  </a:lnTo>
                  <a:lnTo>
                    <a:pt x="344703" y="105346"/>
                  </a:lnTo>
                  <a:lnTo>
                    <a:pt x="366141" y="41249"/>
                  </a:lnTo>
                  <a:lnTo>
                    <a:pt x="385953" y="105346"/>
                  </a:lnTo>
                  <a:lnTo>
                    <a:pt x="385953" y="3048"/>
                  </a:lnTo>
                  <a:lnTo>
                    <a:pt x="346227" y="3048"/>
                  </a:lnTo>
                  <a:lnTo>
                    <a:pt x="288315" y="167932"/>
                  </a:lnTo>
                  <a:lnTo>
                    <a:pt x="324891" y="167932"/>
                  </a:lnTo>
                  <a:lnTo>
                    <a:pt x="335559" y="134404"/>
                  </a:lnTo>
                  <a:lnTo>
                    <a:pt x="396621" y="134404"/>
                  </a:lnTo>
                  <a:lnTo>
                    <a:pt x="407289" y="167932"/>
                  </a:lnTo>
                  <a:lnTo>
                    <a:pt x="443865" y="167932"/>
                  </a:lnTo>
                  <a:close/>
                </a:path>
                <a:path w="604520" h="172719">
                  <a:moveTo>
                    <a:pt x="604075" y="58000"/>
                  </a:moveTo>
                  <a:lnTo>
                    <a:pt x="588530" y="21221"/>
                  </a:lnTo>
                  <a:lnTo>
                    <a:pt x="552538" y="1524"/>
                  </a:lnTo>
                  <a:lnTo>
                    <a:pt x="533869" y="0"/>
                  </a:lnTo>
                  <a:lnTo>
                    <a:pt x="522973" y="571"/>
                  </a:lnTo>
                  <a:lnTo>
                    <a:pt x="486562" y="15506"/>
                  </a:lnTo>
                  <a:lnTo>
                    <a:pt x="464324" y="50304"/>
                  </a:lnTo>
                  <a:lnTo>
                    <a:pt x="459105" y="85534"/>
                  </a:lnTo>
                  <a:lnTo>
                    <a:pt x="459689" y="98679"/>
                  </a:lnTo>
                  <a:lnTo>
                    <a:pt x="473252" y="140830"/>
                  </a:lnTo>
                  <a:lnTo>
                    <a:pt x="502805" y="166065"/>
                  </a:lnTo>
                  <a:lnTo>
                    <a:pt x="533869" y="172491"/>
                  </a:lnTo>
                  <a:lnTo>
                    <a:pt x="547027" y="171373"/>
                  </a:lnTo>
                  <a:lnTo>
                    <a:pt x="588860" y="147751"/>
                  </a:lnTo>
                  <a:lnTo>
                    <a:pt x="604075" y="111442"/>
                  </a:lnTo>
                  <a:lnTo>
                    <a:pt x="570547" y="111442"/>
                  </a:lnTo>
                  <a:lnTo>
                    <a:pt x="568807" y="118884"/>
                  </a:lnTo>
                  <a:lnTo>
                    <a:pt x="566077" y="125209"/>
                  </a:lnTo>
                  <a:lnTo>
                    <a:pt x="533869" y="142011"/>
                  </a:lnTo>
                  <a:lnTo>
                    <a:pt x="525043" y="141135"/>
                  </a:lnTo>
                  <a:lnTo>
                    <a:pt x="496531" y="109550"/>
                  </a:lnTo>
                  <a:lnTo>
                    <a:pt x="494245" y="85534"/>
                  </a:lnTo>
                  <a:lnTo>
                    <a:pt x="494842" y="72656"/>
                  </a:lnTo>
                  <a:lnTo>
                    <a:pt x="510971" y="37414"/>
                  </a:lnTo>
                  <a:lnTo>
                    <a:pt x="535393" y="29044"/>
                  </a:lnTo>
                  <a:lnTo>
                    <a:pt x="547954" y="30784"/>
                  </a:lnTo>
                  <a:lnTo>
                    <a:pt x="558076" y="36093"/>
                  </a:lnTo>
                  <a:lnTo>
                    <a:pt x="565658" y="45123"/>
                  </a:lnTo>
                  <a:lnTo>
                    <a:pt x="570547" y="58000"/>
                  </a:lnTo>
                  <a:lnTo>
                    <a:pt x="604075" y="5800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4698" y="1761267"/>
              <a:ext cx="144875" cy="16487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4353" y="307848"/>
            <a:ext cx="148018" cy="16944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334000" y="304800"/>
            <a:ext cx="1188720" cy="172720"/>
            <a:chOff x="5265515" y="1758219"/>
            <a:chExt cx="1188720" cy="17272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5515" y="1761267"/>
              <a:ext cx="157162" cy="16487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44013" y="1761267"/>
              <a:ext cx="125063" cy="16487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6508" y="1761267"/>
              <a:ext cx="125063" cy="16487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49099" y="1761267"/>
              <a:ext cx="137255" cy="1648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06166" y="1758219"/>
              <a:ext cx="488156" cy="1724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420230" y="1761616"/>
              <a:ext cx="33655" cy="62230"/>
            </a:xfrm>
            <a:custGeom>
              <a:avLst/>
              <a:gdLst/>
              <a:ahLst/>
              <a:cxnLst/>
              <a:rect l="l" t="t" r="r" b="b"/>
              <a:pathLst>
                <a:path w="33654" h="62230">
                  <a:moveTo>
                    <a:pt x="0" y="0"/>
                  </a:moveTo>
                  <a:lnTo>
                    <a:pt x="33527" y="0"/>
                  </a:lnTo>
                  <a:lnTo>
                    <a:pt x="33527" y="62229"/>
                  </a:lnTo>
                  <a:lnTo>
                    <a:pt x="0" y="62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6488703" y="308197"/>
            <a:ext cx="131445" cy="165100"/>
          </a:xfrm>
          <a:custGeom>
            <a:avLst/>
            <a:gdLst/>
            <a:ahLst/>
            <a:cxnLst/>
            <a:rect l="l" t="t" r="r" b="b"/>
            <a:pathLst>
              <a:path w="131445" h="165100">
                <a:moveTo>
                  <a:pt x="131165" y="0"/>
                </a:moveTo>
                <a:lnTo>
                  <a:pt x="97637" y="0"/>
                </a:lnTo>
                <a:lnTo>
                  <a:pt x="97637" y="62230"/>
                </a:lnTo>
                <a:lnTo>
                  <a:pt x="0" y="62230"/>
                </a:lnTo>
                <a:lnTo>
                  <a:pt x="0" y="91440"/>
                </a:lnTo>
                <a:lnTo>
                  <a:pt x="0" y="165100"/>
                </a:lnTo>
                <a:lnTo>
                  <a:pt x="33528" y="165100"/>
                </a:lnTo>
                <a:lnTo>
                  <a:pt x="33528" y="91440"/>
                </a:lnTo>
                <a:lnTo>
                  <a:pt x="97637" y="91440"/>
                </a:lnTo>
                <a:lnTo>
                  <a:pt x="97637" y="165100"/>
                </a:lnTo>
                <a:lnTo>
                  <a:pt x="131165" y="165100"/>
                </a:lnTo>
                <a:lnTo>
                  <a:pt x="131165" y="91440"/>
                </a:lnTo>
                <a:lnTo>
                  <a:pt x="131165" y="62230"/>
                </a:lnTo>
                <a:lnTo>
                  <a:pt x="131165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4">
            <a:extLst>
              <a:ext uri="{FF2B5EF4-FFF2-40B4-BE49-F238E27FC236}">
                <a16:creationId xmlns:a16="http://schemas.microsoft.com/office/drawing/2014/main" id="{A245054D-BD9D-C5CE-ED8A-63FCCFA14790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27" name="object 5">
              <a:extLst>
                <a:ext uri="{FF2B5EF4-FFF2-40B4-BE49-F238E27FC236}">
                  <a16:creationId xmlns:a16="http://schemas.microsoft.com/office/drawing/2014/main" id="{985E8049-EB43-72D0-66C7-059B2B67AC1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28" name="object 6">
              <a:extLst>
                <a:ext uri="{FF2B5EF4-FFF2-40B4-BE49-F238E27FC236}">
                  <a16:creationId xmlns:a16="http://schemas.microsoft.com/office/drawing/2014/main" id="{2F93AC88-C326-CAFD-A2AD-7CCA5E74D555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1AF9B29-2388-3681-6BE1-1AA33BB58C49}"/>
              </a:ext>
            </a:extLst>
          </p:cNvPr>
          <p:cNvSpPr txBox="1"/>
          <p:nvPr/>
        </p:nvSpPr>
        <p:spPr>
          <a:xfrm>
            <a:off x="481680" y="1059031"/>
            <a:ext cx="8437685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Frontend</a:t>
            </a:r>
            <a:endParaRPr lang="en-IN" sz="19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React + TypeScript (Vite)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Tailwind CSS (responsive UI)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Optional client OCR (tesseract.js)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Hosting: </a:t>
            </a:r>
            <a:r>
              <a:rPr lang="en-IN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Vercel</a:t>
            </a:r>
            <a:endParaRPr lang="en-IN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endParaRPr lang="en-IN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Backend &amp; Data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Node.js + TypeScript, Express APIs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MongoDB Atlas + Mongoose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Redis (cache/sessions)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Encrypted S3 (file storage)</a:t>
            </a:r>
          </a:p>
          <a:p>
            <a:pPr algn="l"/>
            <a:endParaRPr lang="en-IN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AI / Matching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OCR: Google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NLP: Google Gemini API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Fuzzy matching (Fuse.js/</a:t>
            </a:r>
            <a:r>
              <a:rPr lang="en-IN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Levenshtein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)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Curated 500‑SKU substitution dataset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Pharmacist verification loop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Integrations</a:t>
            </a:r>
          </a:p>
          <a:p>
            <a:pPr algn="l"/>
            <a:endParaRPr lang="en-IN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Payments</a:t>
            </a:r>
          </a:p>
          <a:p>
            <a:pPr algn="l"/>
            <a:r>
              <a:rPr lang="en-IN" b="1" dirty="0" err="1">
                <a:solidFill>
                  <a:schemeClr val="bg1"/>
                </a:solidFill>
                <a:latin typeface="Aptos Display" panose="020B0004020202020204" pitchFamily="34" charset="0"/>
              </a:rPr>
              <a:t>Razorpay</a:t>
            </a:r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 / Stripe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1296" y="6282785"/>
            <a:ext cx="207454" cy="1450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18688" y="463010"/>
            <a:ext cx="1383506" cy="1557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6965" y="463010"/>
            <a:ext cx="125063" cy="1557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6800" y="463010"/>
            <a:ext cx="1415509" cy="15573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382321" y="463010"/>
            <a:ext cx="852805" cy="156210"/>
            <a:chOff x="5890926" y="1909381"/>
            <a:chExt cx="852805" cy="156210"/>
          </a:xfrm>
        </p:grpSpPr>
        <p:sp>
          <p:nvSpPr>
            <p:cNvPr id="7" name="object 7"/>
            <p:cNvSpPr/>
            <p:nvPr/>
          </p:nvSpPr>
          <p:spPr>
            <a:xfrm>
              <a:off x="5890920" y="1909381"/>
              <a:ext cx="703580" cy="156210"/>
            </a:xfrm>
            <a:custGeom>
              <a:avLst/>
              <a:gdLst/>
              <a:ahLst/>
              <a:cxnLst/>
              <a:rect l="l" t="t" r="r" b="b"/>
              <a:pathLst>
                <a:path w="703579" h="156210">
                  <a:moveTo>
                    <a:pt x="93052" y="12192"/>
                  </a:moveTo>
                  <a:lnTo>
                    <a:pt x="91528" y="4572"/>
                  </a:lnTo>
                  <a:lnTo>
                    <a:pt x="86956" y="3048"/>
                  </a:lnTo>
                  <a:lnTo>
                    <a:pt x="6096" y="3048"/>
                  </a:lnTo>
                  <a:lnTo>
                    <a:pt x="1524" y="4572"/>
                  </a:lnTo>
                  <a:lnTo>
                    <a:pt x="0" y="9144"/>
                  </a:lnTo>
                  <a:lnTo>
                    <a:pt x="0" y="146494"/>
                  </a:lnTo>
                  <a:lnTo>
                    <a:pt x="1524" y="151168"/>
                  </a:lnTo>
                  <a:lnTo>
                    <a:pt x="6096" y="152692"/>
                  </a:lnTo>
                  <a:lnTo>
                    <a:pt x="32004" y="152692"/>
                  </a:lnTo>
                  <a:lnTo>
                    <a:pt x="36576" y="151168"/>
                  </a:lnTo>
                  <a:lnTo>
                    <a:pt x="39624" y="143446"/>
                  </a:lnTo>
                  <a:lnTo>
                    <a:pt x="38100" y="137350"/>
                  </a:lnTo>
                  <a:lnTo>
                    <a:pt x="39624" y="132778"/>
                  </a:lnTo>
                  <a:lnTo>
                    <a:pt x="39624" y="109918"/>
                  </a:lnTo>
                  <a:lnTo>
                    <a:pt x="41148" y="105346"/>
                  </a:lnTo>
                  <a:lnTo>
                    <a:pt x="45720" y="103822"/>
                  </a:lnTo>
                  <a:lnTo>
                    <a:pt x="50380" y="103822"/>
                  </a:lnTo>
                  <a:lnTo>
                    <a:pt x="54952" y="105346"/>
                  </a:lnTo>
                  <a:lnTo>
                    <a:pt x="58000" y="103822"/>
                  </a:lnTo>
                  <a:lnTo>
                    <a:pt x="80860" y="103822"/>
                  </a:lnTo>
                  <a:lnTo>
                    <a:pt x="85432" y="102298"/>
                  </a:lnTo>
                  <a:lnTo>
                    <a:pt x="86956" y="94678"/>
                  </a:lnTo>
                  <a:lnTo>
                    <a:pt x="86956" y="76301"/>
                  </a:lnTo>
                  <a:lnTo>
                    <a:pt x="85432" y="71729"/>
                  </a:lnTo>
                  <a:lnTo>
                    <a:pt x="80860" y="70205"/>
                  </a:lnTo>
                  <a:lnTo>
                    <a:pt x="45720" y="70205"/>
                  </a:lnTo>
                  <a:lnTo>
                    <a:pt x="41148" y="68681"/>
                  </a:lnTo>
                  <a:lnTo>
                    <a:pt x="38100" y="64109"/>
                  </a:lnTo>
                  <a:lnTo>
                    <a:pt x="38100" y="58013"/>
                  </a:lnTo>
                  <a:lnTo>
                    <a:pt x="39624" y="53441"/>
                  </a:lnTo>
                  <a:lnTo>
                    <a:pt x="38100" y="44297"/>
                  </a:lnTo>
                  <a:lnTo>
                    <a:pt x="41148" y="39725"/>
                  </a:lnTo>
                  <a:lnTo>
                    <a:pt x="44196" y="36677"/>
                  </a:lnTo>
                  <a:lnTo>
                    <a:pt x="86956" y="36677"/>
                  </a:lnTo>
                  <a:lnTo>
                    <a:pt x="91528" y="35153"/>
                  </a:lnTo>
                  <a:lnTo>
                    <a:pt x="93052" y="30480"/>
                  </a:lnTo>
                  <a:lnTo>
                    <a:pt x="93052" y="12192"/>
                  </a:lnTo>
                  <a:close/>
                </a:path>
                <a:path w="703579" h="156210">
                  <a:moveTo>
                    <a:pt x="253174" y="146507"/>
                  </a:moveTo>
                  <a:lnTo>
                    <a:pt x="248602" y="132791"/>
                  </a:lnTo>
                  <a:lnTo>
                    <a:pt x="242506" y="122123"/>
                  </a:lnTo>
                  <a:lnTo>
                    <a:pt x="239458" y="114503"/>
                  </a:lnTo>
                  <a:lnTo>
                    <a:pt x="234886" y="106883"/>
                  </a:lnTo>
                  <a:lnTo>
                    <a:pt x="231965" y="99263"/>
                  </a:lnTo>
                  <a:lnTo>
                    <a:pt x="227266" y="86969"/>
                  </a:lnTo>
                  <a:lnTo>
                    <a:pt x="224218" y="83921"/>
                  </a:lnTo>
                  <a:lnTo>
                    <a:pt x="221170" y="74777"/>
                  </a:lnTo>
                  <a:lnTo>
                    <a:pt x="218122" y="68681"/>
                  </a:lnTo>
                  <a:lnTo>
                    <a:pt x="213550" y="61061"/>
                  </a:lnTo>
                  <a:lnTo>
                    <a:pt x="212026" y="56489"/>
                  </a:lnTo>
                  <a:lnTo>
                    <a:pt x="198310" y="25920"/>
                  </a:lnTo>
                  <a:lnTo>
                    <a:pt x="196786" y="22872"/>
                  </a:lnTo>
                  <a:lnTo>
                    <a:pt x="193738" y="18300"/>
                  </a:lnTo>
                  <a:lnTo>
                    <a:pt x="192214" y="13728"/>
                  </a:lnTo>
                  <a:lnTo>
                    <a:pt x="190690" y="10680"/>
                  </a:lnTo>
                  <a:lnTo>
                    <a:pt x="190690" y="94691"/>
                  </a:lnTo>
                  <a:lnTo>
                    <a:pt x="190690" y="97739"/>
                  </a:lnTo>
                  <a:lnTo>
                    <a:pt x="187642" y="99263"/>
                  </a:lnTo>
                  <a:lnTo>
                    <a:pt x="169354" y="99263"/>
                  </a:lnTo>
                  <a:lnTo>
                    <a:pt x="166306" y="97739"/>
                  </a:lnTo>
                  <a:lnTo>
                    <a:pt x="166306" y="93167"/>
                  </a:lnTo>
                  <a:lnTo>
                    <a:pt x="175450" y="70205"/>
                  </a:lnTo>
                  <a:lnTo>
                    <a:pt x="178498" y="68681"/>
                  </a:lnTo>
                  <a:lnTo>
                    <a:pt x="181546" y="70205"/>
                  </a:lnTo>
                  <a:lnTo>
                    <a:pt x="190690" y="94691"/>
                  </a:lnTo>
                  <a:lnTo>
                    <a:pt x="190690" y="10680"/>
                  </a:lnTo>
                  <a:lnTo>
                    <a:pt x="189166" y="7632"/>
                  </a:lnTo>
                  <a:lnTo>
                    <a:pt x="184594" y="3060"/>
                  </a:lnTo>
                  <a:lnTo>
                    <a:pt x="178498" y="1536"/>
                  </a:lnTo>
                  <a:lnTo>
                    <a:pt x="170878" y="3060"/>
                  </a:lnTo>
                  <a:lnTo>
                    <a:pt x="167830" y="7632"/>
                  </a:lnTo>
                  <a:lnTo>
                    <a:pt x="166306" y="10680"/>
                  </a:lnTo>
                  <a:lnTo>
                    <a:pt x="164782" y="15252"/>
                  </a:lnTo>
                  <a:lnTo>
                    <a:pt x="161734" y="18300"/>
                  </a:lnTo>
                  <a:lnTo>
                    <a:pt x="154114" y="38201"/>
                  </a:lnTo>
                  <a:lnTo>
                    <a:pt x="150977" y="41249"/>
                  </a:lnTo>
                  <a:lnTo>
                    <a:pt x="149453" y="45821"/>
                  </a:lnTo>
                  <a:lnTo>
                    <a:pt x="147929" y="48869"/>
                  </a:lnTo>
                  <a:lnTo>
                    <a:pt x="146405" y="53441"/>
                  </a:lnTo>
                  <a:lnTo>
                    <a:pt x="125069" y="99263"/>
                  </a:lnTo>
                  <a:lnTo>
                    <a:pt x="123545" y="103835"/>
                  </a:lnTo>
                  <a:lnTo>
                    <a:pt x="120497" y="106883"/>
                  </a:lnTo>
                  <a:lnTo>
                    <a:pt x="118973" y="111455"/>
                  </a:lnTo>
                  <a:lnTo>
                    <a:pt x="115925" y="117551"/>
                  </a:lnTo>
                  <a:lnTo>
                    <a:pt x="112877" y="126695"/>
                  </a:lnTo>
                  <a:lnTo>
                    <a:pt x="109829" y="129743"/>
                  </a:lnTo>
                  <a:lnTo>
                    <a:pt x="109829" y="132791"/>
                  </a:lnTo>
                  <a:lnTo>
                    <a:pt x="105257" y="141935"/>
                  </a:lnTo>
                  <a:lnTo>
                    <a:pt x="103733" y="146507"/>
                  </a:lnTo>
                  <a:lnTo>
                    <a:pt x="105257" y="151168"/>
                  </a:lnTo>
                  <a:lnTo>
                    <a:pt x="108305" y="152692"/>
                  </a:lnTo>
                  <a:lnTo>
                    <a:pt x="134213" y="152692"/>
                  </a:lnTo>
                  <a:lnTo>
                    <a:pt x="138785" y="151168"/>
                  </a:lnTo>
                  <a:lnTo>
                    <a:pt x="143357" y="146507"/>
                  </a:lnTo>
                  <a:lnTo>
                    <a:pt x="146405" y="140411"/>
                  </a:lnTo>
                  <a:lnTo>
                    <a:pt x="150977" y="135839"/>
                  </a:lnTo>
                  <a:lnTo>
                    <a:pt x="155638" y="132791"/>
                  </a:lnTo>
                  <a:lnTo>
                    <a:pt x="158686" y="134315"/>
                  </a:lnTo>
                  <a:lnTo>
                    <a:pt x="167830" y="132791"/>
                  </a:lnTo>
                  <a:lnTo>
                    <a:pt x="172402" y="134315"/>
                  </a:lnTo>
                  <a:lnTo>
                    <a:pt x="196786" y="134315"/>
                  </a:lnTo>
                  <a:lnTo>
                    <a:pt x="201358" y="132791"/>
                  </a:lnTo>
                  <a:lnTo>
                    <a:pt x="210502" y="138887"/>
                  </a:lnTo>
                  <a:lnTo>
                    <a:pt x="212026" y="143459"/>
                  </a:lnTo>
                  <a:lnTo>
                    <a:pt x="213550" y="146507"/>
                  </a:lnTo>
                  <a:lnTo>
                    <a:pt x="218122" y="151168"/>
                  </a:lnTo>
                  <a:lnTo>
                    <a:pt x="222694" y="152692"/>
                  </a:lnTo>
                  <a:lnTo>
                    <a:pt x="245554" y="152692"/>
                  </a:lnTo>
                  <a:lnTo>
                    <a:pt x="251650" y="151168"/>
                  </a:lnTo>
                  <a:lnTo>
                    <a:pt x="253174" y="146507"/>
                  </a:lnTo>
                  <a:close/>
                </a:path>
                <a:path w="703579" h="156210">
                  <a:moveTo>
                    <a:pt x="411861" y="51917"/>
                  </a:moveTo>
                  <a:lnTo>
                    <a:pt x="410337" y="45821"/>
                  </a:lnTo>
                  <a:lnTo>
                    <a:pt x="408813" y="42773"/>
                  </a:lnTo>
                  <a:lnTo>
                    <a:pt x="407289" y="38201"/>
                  </a:lnTo>
                  <a:lnTo>
                    <a:pt x="378333" y="7620"/>
                  </a:lnTo>
                  <a:lnTo>
                    <a:pt x="356895" y="1524"/>
                  </a:lnTo>
                  <a:lnTo>
                    <a:pt x="352323" y="1524"/>
                  </a:lnTo>
                  <a:lnTo>
                    <a:pt x="349275" y="0"/>
                  </a:lnTo>
                  <a:lnTo>
                    <a:pt x="335559" y="0"/>
                  </a:lnTo>
                  <a:lnTo>
                    <a:pt x="314223" y="4572"/>
                  </a:lnTo>
                  <a:lnTo>
                    <a:pt x="277647" y="32105"/>
                  </a:lnTo>
                  <a:lnTo>
                    <a:pt x="263931" y="77825"/>
                  </a:lnTo>
                  <a:lnTo>
                    <a:pt x="265455" y="93154"/>
                  </a:lnTo>
                  <a:lnTo>
                    <a:pt x="268503" y="105346"/>
                  </a:lnTo>
                  <a:lnTo>
                    <a:pt x="277647" y="123634"/>
                  </a:lnTo>
                  <a:lnTo>
                    <a:pt x="295935" y="141922"/>
                  </a:lnTo>
                  <a:lnTo>
                    <a:pt x="314223" y="151168"/>
                  </a:lnTo>
                  <a:lnTo>
                    <a:pt x="318795" y="151168"/>
                  </a:lnTo>
                  <a:lnTo>
                    <a:pt x="323367" y="152692"/>
                  </a:lnTo>
                  <a:lnTo>
                    <a:pt x="326415" y="154216"/>
                  </a:lnTo>
                  <a:lnTo>
                    <a:pt x="330987" y="154216"/>
                  </a:lnTo>
                  <a:lnTo>
                    <a:pt x="341655" y="155740"/>
                  </a:lnTo>
                  <a:lnTo>
                    <a:pt x="356895" y="154216"/>
                  </a:lnTo>
                  <a:lnTo>
                    <a:pt x="369189" y="151168"/>
                  </a:lnTo>
                  <a:lnTo>
                    <a:pt x="373761" y="149644"/>
                  </a:lnTo>
                  <a:lnTo>
                    <a:pt x="376809" y="148120"/>
                  </a:lnTo>
                  <a:lnTo>
                    <a:pt x="381381" y="146494"/>
                  </a:lnTo>
                  <a:lnTo>
                    <a:pt x="411861" y="102298"/>
                  </a:lnTo>
                  <a:lnTo>
                    <a:pt x="411861" y="97726"/>
                  </a:lnTo>
                  <a:lnTo>
                    <a:pt x="407289" y="96202"/>
                  </a:lnTo>
                  <a:lnTo>
                    <a:pt x="382905" y="96202"/>
                  </a:lnTo>
                  <a:lnTo>
                    <a:pt x="376809" y="97726"/>
                  </a:lnTo>
                  <a:lnTo>
                    <a:pt x="373761" y="102298"/>
                  </a:lnTo>
                  <a:lnTo>
                    <a:pt x="372237" y="105346"/>
                  </a:lnTo>
                  <a:lnTo>
                    <a:pt x="362991" y="114490"/>
                  </a:lnTo>
                  <a:lnTo>
                    <a:pt x="359943" y="116014"/>
                  </a:lnTo>
                  <a:lnTo>
                    <a:pt x="352323" y="119062"/>
                  </a:lnTo>
                  <a:lnTo>
                    <a:pt x="341655" y="120586"/>
                  </a:lnTo>
                  <a:lnTo>
                    <a:pt x="335559" y="119062"/>
                  </a:lnTo>
                  <a:lnTo>
                    <a:pt x="327939" y="117538"/>
                  </a:lnTo>
                  <a:lnTo>
                    <a:pt x="320319" y="112966"/>
                  </a:lnTo>
                  <a:lnTo>
                    <a:pt x="314223" y="106870"/>
                  </a:lnTo>
                  <a:lnTo>
                    <a:pt x="309651" y="100774"/>
                  </a:lnTo>
                  <a:lnTo>
                    <a:pt x="308127" y="96202"/>
                  </a:lnTo>
                  <a:lnTo>
                    <a:pt x="306603" y="93154"/>
                  </a:lnTo>
                  <a:lnTo>
                    <a:pt x="303555" y="83921"/>
                  </a:lnTo>
                  <a:lnTo>
                    <a:pt x="303555" y="71729"/>
                  </a:lnTo>
                  <a:lnTo>
                    <a:pt x="305079" y="62585"/>
                  </a:lnTo>
                  <a:lnTo>
                    <a:pt x="309651" y="54965"/>
                  </a:lnTo>
                  <a:lnTo>
                    <a:pt x="311175" y="50393"/>
                  </a:lnTo>
                  <a:lnTo>
                    <a:pt x="315747" y="44297"/>
                  </a:lnTo>
                  <a:lnTo>
                    <a:pt x="321843" y="41249"/>
                  </a:lnTo>
                  <a:lnTo>
                    <a:pt x="326415" y="38201"/>
                  </a:lnTo>
                  <a:lnTo>
                    <a:pt x="341655" y="35153"/>
                  </a:lnTo>
                  <a:lnTo>
                    <a:pt x="350799" y="36677"/>
                  </a:lnTo>
                  <a:lnTo>
                    <a:pt x="356895" y="38201"/>
                  </a:lnTo>
                  <a:lnTo>
                    <a:pt x="361467" y="39725"/>
                  </a:lnTo>
                  <a:lnTo>
                    <a:pt x="364515" y="41249"/>
                  </a:lnTo>
                  <a:lnTo>
                    <a:pt x="370713" y="47345"/>
                  </a:lnTo>
                  <a:lnTo>
                    <a:pt x="372237" y="51917"/>
                  </a:lnTo>
                  <a:lnTo>
                    <a:pt x="381381" y="58013"/>
                  </a:lnTo>
                  <a:lnTo>
                    <a:pt x="385953" y="56489"/>
                  </a:lnTo>
                  <a:lnTo>
                    <a:pt x="390525" y="58013"/>
                  </a:lnTo>
                  <a:lnTo>
                    <a:pt x="395097" y="56489"/>
                  </a:lnTo>
                  <a:lnTo>
                    <a:pt x="399669" y="58013"/>
                  </a:lnTo>
                  <a:lnTo>
                    <a:pt x="407289" y="56489"/>
                  </a:lnTo>
                  <a:lnTo>
                    <a:pt x="410337" y="54965"/>
                  </a:lnTo>
                  <a:lnTo>
                    <a:pt x="411861" y="51917"/>
                  </a:lnTo>
                  <a:close/>
                </a:path>
                <a:path w="703579" h="156210">
                  <a:moveTo>
                    <a:pt x="535406" y="9156"/>
                  </a:moveTo>
                  <a:lnTo>
                    <a:pt x="533882" y="6108"/>
                  </a:lnTo>
                  <a:lnTo>
                    <a:pt x="529310" y="3060"/>
                  </a:lnTo>
                  <a:lnTo>
                    <a:pt x="515594" y="3060"/>
                  </a:lnTo>
                  <a:lnTo>
                    <a:pt x="511022" y="1536"/>
                  </a:lnTo>
                  <a:lnTo>
                    <a:pt x="507974" y="3060"/>
                  </a:lnTo>
                  <a:lnTo>
                    <a:pt x="482066" y="3060"/>
                  </a:lnTo>
                  <a:lnTo>
                    <a:pt x="477494" y="1536"/>
                  </a:lnTo>
                  <a:lnTo>
                    <a:pt x="472821" y="3060"/>
                  </a:lnTo>
                  <a:lnTo>
                    <a:pt x="430149" y="3060"/>
                  </a:lnTo>
                  <a:lnTo>
                    <a:pt x="425577" y="4584"/>
                  </a:lnTo>
                  <a:lnTo>
                    <a:pt x="424053" y="9156"/>
                  </a:lnTo>
                  <a:lnTo>
                    <a:pt x="424053" y="30492"/>
                  </a:lnTo>
                  <a:lnTo>
                    <a:pt x="425577" y="35153"/>
                  </a:lnTo>
                  <a:lnTo>
                    <a:pt x="430149" y="36677"/>
                  </a:lnTo>
                  <a:lnTo>
                    <a:pt x="454533" y="36677"/>
                  </a:lnTo>
                  <a:lnTo>
                    <a:pt x="457581" y="39725"/>
                  </a:lnTo>
                  <a:lnTo>
                    <a:pt x="460629" y="44297"/>
                  </a:lnTo>
                  <a:lnTo>
                    <a:pt x="460629" y="141935"/>
                  </a:lnTo>
                  <a:lnTo>
                    <a:pt x="459105" y="146507"/>
                  </a:lnTo>
                  <a:lnTo>
                    <a:pt x="462153" y="151168"/>
                  </a:lnTo>
                  <a:lnTo>
                    <a:pt x="468249" y="152692"/>
                  </a:lnTo>
                  <a:lnTo>
                    <a:pt x="475970" y="152692"/>
                  </a:lnTo>
                  <a:lnTo>
                    <a:pt x="489686" y="152692"/>
                  </a:lnTo>
                  <a:lnTo>
                    <a:pt x="495782" y="151168"/>
                  </a:lnTo>
                  <a:lnTo>
                    <a:pt x="498830" y="144983"/>
                  </a:lnTo>
                  <a:lnTo>
                    <a:pt x="498830" y="68681"/>
                  </a:lnTo>
                  <a:lnTo>
                    <a:pt x="497306" y="64109"/>
                  </a:lnTo>
                  <a:lnTo>
                    <a:pt x="498830" y="45821"/>
                  </a:lnTo>
                  <a:lnTo>
                    <a:pt x="500354" y="39725"/>
                  </a:lnTo>
                  <a:lnTo>
                    <a:pt x="504926" y="36677"/>
                  </a:lnTo>
                  <a:lnTo>
                    <a:pt x="512546" y="36677"/>
                  </a:lnTo>
                  <a:lnTo>
                    <a:pt x="520166" y="38201"/>
                  </a:lnTo>
                  <a:lnTo>
                    <a:pt x="524738" y="36677"/>
                  </a:lnTo>
                  <a:lnTo>
                    <a:pt x="529310" y="36677"/>
                  </a:lnTo>
                  <a:lnTo>
                    <a:pt x="532358" y="35153"/>
                  </a:lnTo>
                  <a:lnTo>
                    <a:pt x="535406" y="30492"/>
                  </a:lnTo>
                  <a:lnTo>
                    <a:pt x="535406" y="9156"/>
                  </a:lnTo>
                  <a:close/>
                </a:path>
                <a:path w="703579" h="156210">
                  <a:moveTo>
                    <a:pt x="703237" y="77825"/>
                  </a:moveTo>
                  <a:lnTo>
                    <a:pt x="694093" y="38201"/>
                  </a:lnTo>
                  <a:lnTo>
                    <a:pt x="686371" y="28956"/>
                  </a:lnTo>
                  <a:lnTo>
                    <a:pt x="683323" y="24384"/>
                  </a:lnTo>
                  <a:lnTo>
                    <a:pt x="674179" y="16764"/>
                  </a:lnTo>
                  <a:lnTo>
                    <a:pt x="663511" y="9144"/>
                  </a:lnTo>
                  <a:lnTo>
                    <a:pt x="663511" y="77825"/>
                  </a:lnTo>
                  <a:lnTo>
                    <a:pt x="661987" y="88493"/>
                  </a:lnTo>
                  <a:lnTo>
                    <a:pt x="660463" y="96202"/>
                  </a:lnTo>
                  <a:lnTo>
                    <a:pt x="657415" y="99250"/>
                  </a:lnTo>
                  <a:lnTo>
                    <a:pt x="655891" y="103822"/>
                  </a:lnTo>
                  <a:lnTo>
                    <a:pt x="652843" y="106870"/>
                  </a:lnTo>
                  <a:lnTo>
                    <a:pt x="646747" y="111442"/>
                  </a:lnTo>
                  <a:lnTo>
                    <a:pt x="642175" y="114490"/>
                  </a:lnTo>
                  <a:lnTo>
                    <a:pt x="639127" y="116014"/>
                  </a:lnTo>
                  <a:lnTo>
                    <a:pt x="636079" y="116014"/>
                  </a:lnTo>
                  <a:lnTo>
                    <a:pt x="631507" y="117538"/>
                  </a:lnTo>
                  <a:lnTo>
                    <a:pt x="619315" y="117538"/>
                  </a:lnTo>
                  <a:lnTo>
                    <a:pt x="614743" y="116014"/>
                  </a:lnTo>
                  <a:lnTo>
                    <a:pt x="611695" y="116014"/>
                  </a:lnTo>
                  <a:lnTo>
                    <a:pt x="587311" y="77825"/>
                  </a:lnTo>
                  <a:lnTo>
                    <a:pt x="587311" y="70205"/>
                  </a:lnTo>
                  <a:lnTo>
                    <a:pt x="588835" y="62585"/>
                  </a:lnTo>
                  <a:lnTo>
                    <a:pt x="590359" y="59537"/>
                  </a:lnTo>
                  <a:lnTo>
                    <a:pt x="593407" y="56489"/>
                  </a:lnTo>
                  <a:lnTo>
                    <a:pt x="594931" y="51917"/>
                  </a:lnTo>
                  <a:lnTo>
                    <a:pt x="601027" y="45821"/>
                  </a:lnTo>
                  <a:lnTo>
                    <a:pt x="607123" y="42773"/>
                  </a:lnTo>
                  <a:lnTo>
                    <a:pt x="610171" y="39725"/>
                  </a:lnTo>
                  <a:lnTo>
                    <a:pt x="614743" y="39725"/>
                  </a:lnTo>
                  <a:lnTo>
                    <a:pt x="625411" y="38201"/>
                  </a:lnTo>
                  <a:lnTo>
                    <a:pt x="634555" y="38201"/>
                  </a:lnTo>
                  <a:lnTo>
                    <a:pt x="646747" y="44297"/>
                  </a:lnTo>
                  <a:lnTo>
                    <a:pt x="652843" y="48869"/>
                  </a:lnTo>
                  <a:lnTo>
                    <a:pt x="657415" y="56489"/>
                  </a:lnTo>
                  <a:lnTo>
                    <a:pt x="660463" y="59537"/>
                  </a:lnTo>
                  <a:lnTo>
                    <a:pt x="660463" y="64109"/>
                  </a:lnTo>
                  <a:lnTo>
                    <a:pt x="661987" y="68681"/>
                  </a:lnTo>
                  <a:lnTo>
                    <a:pt x="663511" y="77825"/>
                  </a:lnTo>
                  <a:lnTo>
                    <a:pt x="663511" y="9144"/>
                  </a:lnTo>
                  <a:lnTo>
                    <a:pt x="636079" y="0"/>
                  </a:lnTo>
                  <a:lnTo>
                    <a:pt x="625411" y="0"/>
                  </a:lnTo>
                  <a:lnTo>
                    <a:pt x="610171" y="1524"/>
                  </a:lnTo>
                  <a:lnTo>
                    <a:pt x="605599" y="1524"/>
                  </a:lnTo>
                  <a:lnTo>
                    <a:pt x="602551" y="3048"/>
                  </a:lnTo>
                  <a:lnTo>
                    <a:pt x="597979" y="4572"/>
                  </a:lnTo>
                  <a:lnTo>
                    <a:pt x="590359" y="7620"/>
                  </a:lnTo>
                  <a:lnTo>
                    <a:pt x="579602" y="13716"/>
                  </a:lnTo>
                  <a:lnTo>
                    <a:pt x="576554" y="16764"/>
                  </a:lnTo>
                  <a:lnTo>
                    <a:pt x="568934" y="21336"/>
                  </a:lnTo>
                  <a:lnTo>
                    <a:pt x="562838" y="27432"/>
                  </a:lnTo>
                  <a:lnTo>
                    <a:pt x="556742" y="38201"/>
                  </a:lnTo>
                  <a:lnTo>
                    <a:pt x="553694" y="42773"/>
                  </a:lnTo>
                  <a:lnTo>
                    <a:pt x="550646" y="53441"/>
                  </a:lnTo>
                  <a:lnTo>
                    <a:pt x="549122" y="62585"/>
                  </a:lnTo>
                  <a:lnTo>
                    <a:pt x="549021" y="64109"/>
                  </a:lnTo>
                  <a:lnTo>
                    <a:pt x="547598" y="88493"/>
                  </a:lnTo>
                  <a:lnTo>
                    <a:pt x="550646" y="102298"/>
                  </a:lnTo>
                  <a:lnTo>
                    <a:pt x="553694" y="108394"/>
                  </a:lnTo>
                  <a:lnTo>
                    <a:pt x="556742" y="117538"/>
                  </a:lnTo>
                  <a:lnTo>
                    <a:pt x="567410" y="131254"/>
                  </a:lnTo>
                  <a:lnTo>
                    <a:pt x="571982" y="137350"/>
                  </a:lnTo>
                  <a:lnTo>
                    <a:pt x="575030" y="140398"/>
                  </a:lnTo>
                  <a:lnTo>
                    <a:pt x="590359" y="148120"/>
                  </a:lnTo>
                  <a:lnTo>
                    <a:pt x="594931" y="149644"/>
                  </a:lnTo>
                  <a:lnTo>
                    <a:pt x="611695" y="154216"/>
                  </a:lnTo>
                  <a:lnTo>
                    <a:pt x="625411" y="155740"/>
                  </a:lnTo>
                  <a:lnTo>
                    <a:pt x="643699" y="154216"/>
                  </a:lnTo>
                  <a:lnTo>
                    <a:pt x="686371" y="128206"/>
                  </a:lnTo>
                  <a:lnTo>
                    <a:pt x="692899" y="117538"/>
                  </a:lnTo>
                  <a:lnTo>
                    <a:pt x="697141" y="109918"/>
                  </a:lnTo>
                  <a:lnTo>
                    <a:pt x="700189" y="100774"/>
                  </a:lnTo>
                  <a:lnTo>
                    <a:pt x="701713" y="97726"/>
                  </a:lnTo>
                  <a:lnTo>
                    <a:pt x="701713" y="93154"/>
                  </a:lnTo>
                  <a:lnTo>
                    <a:pt x="703237" y="77825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7017" y="1910905"/>
              <a:ext cx="126587" cy="15116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91134" y="228600"/>
            <a:ext cx="2560320" cy="611505"/>
            <a:chOff x="64007" y="1130808"/>
            <a:chExt cx="2560320" cy="61150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19D7E761-C4D6-FBB4-E0E6-DB8A9EB26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770" y="1318530"/>
            <a:ext cx="9473980" cy="5453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Privacy‑First Healthcare Access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Anonymous consultation mode, masked notifications, discreet packaging, female pharmacist option.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AI‑Powered Prescription Intelligence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OCR + fuzzy matching to read prescriptions, salt‑based substitution engine, curated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500 SKU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, Gemini API for contextual suggestions.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Transparent Cost Savings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Clear branded vs generic comparison, showing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40–60% savings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 to improve treatment adherence.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Integrated Safety Layer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SOS emergency button, verified delivery partners, safety embedded at every step of the workflow.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Women‑Centric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 Display" panose="020B0004020202020204" pitchFamily="34" charset="0"/>
              </a:rPr>
              <a:t>Built specifically around women’s dignity, comfort, and affordability — tackling stigma and psychological hesitation.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093" y="6311836"/>
            <a:ext cx="207454" cy="144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2233" y="653647"/>
            <a:ext cx="1381982" cy="1618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81600" y="653647"/>
            <a:ext cx="131159" cy="1633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7530" y="653648"/>
            <a:ext cx="1462754" cy="163353"/>
          </a:xfrm>
          <a:prstGeom prst="rect">
            <a:avLst/>
          </a:prstGeom>
        </p:spPr>
      </p:pic>
      <p:grpSp>
        <p:nvGrpSpPr>
          <p:cNvPr id="9" name="object 4">
            <a:extLst>
              <a:ext uri="{FF2B5EF4-FFF2-40B4-BE49-F238E27FC236}">
                <a16:creationId xmlns:a16="http://schemas.microsoft.com/office/drawing/2014/main" id="{54EC20D8-FC6E-8DD0-A57E-4EBE880ECEED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0621C2F5-A6CE-2045-37FD-2A80A0E4FF6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E1913146-BB57-DB43-C251-D43430D6A65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FED0C5-F3F5-9A1F-C333-049F2C8757AA}"/>
              </a:ext>
            </a:extLst>
          </p:cNvPr>
          <p:cNvSpPr txBox="1"/>
          <p:nvPr/>
        </p:nvSpPr>
        <p:spPr>
          <a:xfrm>
            <a:off x="424881" y="1524000"/>
            <a:ext cx="805668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Feasibility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Technical: Modern stack (React, Node, MongoDB, Gemini API) enables rapid MVP and scalability.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Operational: Curated 500‑SKU dataset + pharmacist verification ensures safe substitutions.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Economic: Generics deliver 40–60% savings, driving adoption.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Social: Privacy‑first design reduces stigma and hesitation in women’s healthcare.</a:t>
            </a:r>
          </a:p>
          <a:p>
            <a:pPr algn="l"/>
            <a:endParaRPr lang="en-IN" b="1" dirty="0">
              <a:solidFill>
                <a:schemeClr val="bg1"/>
              </a:solidFill>
              <a:latin typeface="Aptos Display" panose="020B0004020202020204" pitchFamily="34" charset="0"/>
            </a:endParaRP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Challenges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Regulatory: Compliance with CDSCO/Drugs &amp; Cosmetics Act.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Data Privacy: Secure storage, masked flows, user trust.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AI Accuracy: OCR/fuzzy matching errors; pharmacist oversight needed.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Adoption: Building trust in tier 2/3 cities.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Logistics: Scaling discreet delivery with verified partners.</a:t>
            </a:r>
          </a:p>
          <a:p>
            <a:pPr algn="l"/>
            <a:r>
              <a:rPr lang="en-IN" b="1" dirty="0">
                <a:solidFill>
                  <a:schemeClr val="bg1"/>
                </a:solidFill>
                <a:latin typeface="Aptos Display" panose="020B0004020202020204" pitchFamily="34" charset="0"/>
              </a:rPr>
              <a:t>Partnerships: Pharmacies, labs, and doctors required for expansion.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093" y="6325552"/>
            <a:ext cx="208978" cy="1450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8074" y="642161"/>
            <a:ext cx="1173003" cy="1618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98041" y="640637"/>
            <a:ext cx="131159" cy="1633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3115" y="642161"/>
            <a:ext cx="1256919" cy="161829"/>
          </a:xfrm>
          <a:prstGeom prst="rect">
            <a:avLst/>
          </a:prstGeom>
        </p:spPr>
      </p:pic>
      <p:grpSp>
        <p:nvGrpSpPr>
          <p:cNvPr id="9" name="object 4">
            <a:extLst>
              <a:ext uri="{FF2B5EF4-FFF2-40B4-BE49-F238E27FC236}">
                <a16:creationId xmlns:a16="http://schemas.microsoft.com/office/drawing/2014/main" id="{C49ED8D1-F77F-5444-CCC3-92583FCF414C}"/>
              </a:ext>
            </a:extLst>
          </p:cNvPr>
          <p:cNvGrpSpPr/>
          <p:nvPr/>
        </p:nvGrpSpPr>
        <p:grpSpPr>
          <a:xfrm>
            <a:off x="172915" y="447907"/>
            <a:ext cx="2560320" cy="611505"/>
            <a:chOff x="64007" y="1130808"/>
            <a:chExt cx="2560320" cy="611505"/>
          </a:xfrm>
        </p:grpSpPr>
        <p:pic>
          <p:nvPicPr>
            <p:cNvPr id="10" name="object 5">
              <a:extLst>
                <a:ext uri="{FF2B5EF4-FFF2-40B4-BE49-F238E27FC236}">
                  <a16:creationId xmlns:a16="http://schemas.microsoft.com/office/drawing/2014/main" id="{CFA0AB5C-0E4C-C560-02D5-86F9497303A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7" y="1130808"/>
              <a:ext cx="609600" cy="611124"/>
            </a:xfrm>
            <a:prstGeom prst="rect">
              <a:avLst/>
            </a:prstGeom>
          </p:spPr>
        </p:pic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40F86DB5-7C24-9A5A-28DD-9B2D41CFCD8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848" y="1336548"/>
              <a:ext cx="1935479" cy="184403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8C5F5D6-B1F1-DFB5-16C4-7C3A72B5D412}"/>
              </a:ext>
            </a:extLst>
          </p:cNvPr>
          <p:cNvSpPr txBox="1"/>
          <p:nvPr/>
        </p:nvSpPr>
        <p:spPr>
          <a:xfrm>
            <a:off x="682231" y="1534959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Studies and reports show women face stigma and access barriers to reproductive care; generics are substantially cheaper than branded drugs; online pharmacy adoption is growing rapidly; regulatory guidance from CDSCO informs substitution and record‑keeping</a:t>
            </a:r>
            <a:endParaRPr lang="en-I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631</Words>
  <Application>Microsoft Office PowerPoint</Application>
  <PresentationFormat>Custom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KRMU PPT TEMPLATE.pdf</dc:title>
  <cp:lastModifiedBy>Utkarsh Shukla</cp:lastModifiedBy>
  <cp:revision>1</cp:revision>
  <dcterms:created xsi:type="dcterms:W3CDTF">2026-02-18T12:11:32Z</dcterms:created>
  <dcterms:modified xsi:type="dcterms:W3CDTF">2026-02-18T13:23:23Z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LastSaved">
    <vt:filetime>2026-02-18T00:00:00Z</vt:filetime>
  </property>
  <property fmtid="{D5CDD505-2E9C-101B-9397-08002B2CF9AE}" pid="4" name="Producer">
    <vt:lpwstr>Microsoft: Print To PDF</vt:lpwstr>
  </property>
</Properties>
</file>